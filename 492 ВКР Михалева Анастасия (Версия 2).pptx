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Funnel Display" panose="020B0604020202020204" charset="0"/>
      <p:regular r:id="rId17"/>
    </p:embeddedFont>
    <p:embeddedFont>
      <p:font typeface="Funnel Sans" panose="020B0604020202020204" charset="0"/>
      <p:regular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62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210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4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Relationship Id="rId9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7724" y="2383988"/>
            <a:ext cx="2674263" cy="449818"/>
          </a:xfrm>
          <a:prstGeom prst="roundRect">
            <a:avLst>
              <a:gd name="adj" fmla="val 17881"/>
            </a:avLst>
          </a:prstGeom>
          <a:solidFill>
            <a:srgbClr val="D8E7F3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1313" y="2513171"/>
            <a:ext cx="191453" cy="1914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68492" y="2455783"/>
            <a:ext cx="2099905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ВКР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837724" y="292953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Интернет-магазин товаров для рукоделия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837724" y="4696539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Современное веб-приложение для автоматизации управления каталогом товаров, категориями и заказами с удобным интерфейсом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836" y="615077"/>
            <a:ext cx="5885855" cy="657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Цель и задачи проекта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36" y="1859875"/>
            <a:ext cx="5579031" cy="55790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15031" y="1831896"/>
            <a:ext cx="3157657" cy="394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Основная цель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6915031" y="2450187"/>
            <a:ext cx="6940034" cy="143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Разработка информационной системы для автоматизации управления каталогом товаров для рукоделия с разграничением прав доступа для разных типов пользователей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915031" y="4105394"/>
            <a:ext cx="2631281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Ключевые задачи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915031" y="4657844"/>
            <a:ext cx="6940034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Создание интуитивного интерфейса для работы с товарами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915031" y="5093970"/>
            <a:ext cx="6940034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Реализация системы ролей и прав доступа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915031" y="5530096"/>
            <a:ext cx="6940034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Обеспечение быстрой навигации без перезагрузки страницы</a:t>
            </a:r>
            <a:endParaRPr lang="en-US" sz="175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58387C8-FEEE-41D5-8DE9-49CB4143E73D}"/>
              </a:ext>
            </a:extLst>
          </p:cNvPr>
          <p:cNvSpPr/>
          <p:nvPr/>
        </p:nvSpPr>
        <p:spPr>
          <a:xfrm>
            <a:off x="12851476" y="7753004"/>
            <a:ext cx="1684713" cy="410094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526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0692" y="3533299"/>
            <a:ext cx="7773591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Технологический стек проекта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70692" y="4511278"/>
            <a:ext cx="4216241" cy="2937629"/>
          </a:xfrm>
          <a:prstGeom prst="roundRect">
            <a:avLst>
              <a:gd name="adj" fmla="val 3148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98458" y="4739045"/>
            <a:ext cx="2590681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Frontend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98458" y="5194935"/>
            <a:ext cx="376070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React 19.2.0</a:t>
            </a: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библиотека для UI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98458" y="5679400"/>
            <a:ext cx="376070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TypeScript 5.9.3</a:t>
            </a: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типизация кода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98458" y="6163866"/>
            <a:ext cx="376070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MobX 6.15.0</a:t>
            </a: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управление состоянием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207079" y="4511278"/>
            <a:ext cx="4216241" cy="2937629"/>
          </a:xfrm>
          <a:prstGeom prst="roundRect">
            <a:avLst>
              <a:gd name="adj" fmla="val 3148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34846" y="4739045"/>
            <a:ext cx="2590681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Сборка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434846" y="5194935"/>
            <a:ext cx="376070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Vite</a:t>
            </a: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современный инструмент сборки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434846" y="6031825"/>
            <a:ext cx="376070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SCSS/SASS</a:t>
            </a: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препроцессор стилей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434846" y="6513151"/>
            <a:ext cx="376070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ESLint</a:t>
            </a: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контроль качества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643467" y="4511278"/>
            <a:ext cx="4216241" cy="2937629"/>
          </a:xfrm>
          <a:prstGeom prst="roundRect">
            <a:avLst>
              <a:gd name="adj" fmla="val 3148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1234" y="4739045"/>
            <a:ext cx="2590681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Backend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871234" y="5194935"/>
            <a:ext cx="376070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Firebase 12.7.0</a:t>
            </a: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облачная база данных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871234" y="6031825"/>
            <a:ext cx="3760708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Realtime Database</a:t>
            </a: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синхронизация в реальном времени</a:t>
            </a:r>
            <a:endParaRPr lang="en-US" sz="170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5B9E7C7-3687-451F-A685-D955ED2B9996}"/>
              </a:ext>
            </a:extLst>
          </p:cNvPr>
          <p:cNvSpPr/>
          <p:nvPr/>
        </p:nvSpPr>
        <p:spPr>
          <a:xfrm>
            <a:off x="12851476" y="7753004"/>
            <a:ext cx="1684713" cy="410094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176" y="657463"/>
            <a:ext cx="7025164" cy="702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Архитектура приложения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76" y="1837968"/>
            <a:ext cx="1194673" cy="14335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9688" y="2076807"/>
            <a:ext cx="2810947" cy="35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Компоненты UI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69688" y="2571512"/>
            <a:ext cx="11524536" cy="38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Переиспользуемые элементы интерфейса: кнопки, формы, модальные окна, таблицы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76" y="3271480"/>
            <a:ext cx="1194673" cy="14335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69688" y="3510320"/>
            <a:ext cx="2810947" cy="35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Страницы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269688" y="4005024"/>
            <a:ext cx="11524536" cy="38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Главная, каталог товаров, категории, заказы, панель администратора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176" y="4704993"/>
            <a:ext cx="1194673" cy="14335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69688" y="4943832"/>
            <a:ext cx="2810947" cy="35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Хранилища (Store)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269688" y="5438537"/>
            <a:ext cx="11524536" cy="38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Управление состоянием: авторизация, данные, навигация, UI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176" y="6138505"/>
            <a:ext cx="1194673" cy="14335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69688" y="6377345"/>
            <a:ext cx="2810947" cy="35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Типы TypeScript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269688" y="6872049"/>
            <a:ext cx="11524536" cy="38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Строгая типизация для пользователей, товаров, категорий и заказов</a:t>
            </a:r>
            <a:endParaRPr lang="en-US" sz="18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30C4BA1-84CC-4CE5-9F42-03CE820DCE0E}"/>
              </a:ext>
            </a:extLst>
          </p:cNvPr>
          <p:cNvSpPr/>
          <p:nvPr/>
        </p:nvSpPr>
        <p:spPr>
          <a:xfrm>
            <a:off x="12851476" y="7753004"/>
            <a:ext cx="1684713" cy="410094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40193"/>
            <a:ext cx="841521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Система ролей пользователей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196697" y="3680341"/>
            <a:ext cx="3799642" cy="239316"/>
          </a:xfrm>
          <a:prstGeom prst="roundRect">
            <a:avLst>
              <a:gd name="adj" fmla="val 42011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7724" y="3440966"/>
            <a:ext cx="718066" cy="718066"/>
          </a:xfrm>
          <a:prstGeom prst="roundRect">
            <a:avLst>
              <a:gd name="adj" fmla="val 63671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270" y="3620512"/>
            <a:ext cx="358973" cy="3589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7039" y="439840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Гость (Guest)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77039" y="4893945"/>
            <a:ext cx="36801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Просмотр каталога товаров, категорий и списка заказов. Базовый уровень доступа без авторизации.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594747" y="3321248"/>
            <a:ext cx="3799642" cy="239316"/>
          </a:xfrm>
          <a:prstGeom prst="roundRect">
            <a:avLst>
              <a:gd name="adj" fmla="val 42011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35773" y="3081873"/>
            <a:ext cx="718066" cy="718066"/>
          </a:xfrm>
          <a:prstGeom prst="roundRect">
            <a:avLst>
              <a:gd name="adj" fmla="val 63671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15320" y="3261420"/>
            <a:ext cx="358973" cy="3589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75089" y="403931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Продавец (Seller)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75089" y="4534853"/>
            <a:ext cx="368010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Управление товарами: добавление, редактирование, изменение цен и наличия. Обработка заказов и изменение статусов.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9992797" y="2962275"/>
            <a:ext cx="3799761" cy="239316"/>
          </a:xfrm>
          <a:prstGeom prst="roundRect">
            <a:avLst>
              <a:gd name="adj" fmla="val 42011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633823" y="2722900"/>
            <a:ext cx="718066" cy="718066"/>
          </a:xfrm>
          <a:prstGeom prst="roundRect">
            <a:avLst>
              <a:gd name="adj" fmla="val 63671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13369" y="2902446"/>
            <a:ext cx="358973" cy="3589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3139" y="3680341"/>
            <a:ext cx="325921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Администратор (Admin)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3139" y="4175879"/>
            <a:ext cx="3680222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Полный контроль системы: CRUD операции с товарами, категориями и заказами. Доступ к панели администрирования.</a:t>
            </a:r>
            <a:endParaRPr lang="en-US" sz="185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C38308C-2308-47FB-869C-7CC904867EC3}"/>
              </a:ext>
            </a:extLst>
          </p:cNvPr>
          <p:cNvSpPr/>
          <p:nvPr/>
        </p:nvSpPr>
        <p:spPr>
          <a:xfrm>
            <a:off x="12851476" y="7753004"/>
            <a:ext cx="1684713" cy="410094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1032" y="442079"/>
            <a:ext cx="5817751" cy="471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Функциональные возможности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2541032" y="1314688"/>
            <a:ext cx="2541508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Управление каталогом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032" y="1778079"/>
            <a:ext cx="4578429" cy="45784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1032" y="6536888"/>
            <a:ext cx="4578429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Фильтрация по категориям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541032" y="6849547"/>
            <a:ext cx="4578429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Поиск по названию и описанию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541032" y="7162205"/>
            <a:ext cx="4578429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Отображение цен и наличия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541032" y="7474863"/>
            <a:ext cx="4578429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Редактирование товаров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518321" y="1314688"/>
            <a:ext cx="2264331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Работа с заказами</a:t>
            </a:r>
            <a:endParaRPr lang="en-US" sz="1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8321" y="1778079"/>
            <a:ext cx="4578429" cy="45784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18321" y="6536888"/>
            <a:ext cx="4578429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Просмотр всех заказов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518321" y="6849547"/>
            <a:ext cx="4578429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Изменение статусов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518321" y="7162205"/>
            <a:ext cx="4578429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Обработка заявок клиентов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518321" y="7474863"/>
            <a:ext cx="4578429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Управление данными заказов</a:t>
            </a:r>
            <a:endParaRPr lang="en-US" sz="12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EB3AC55-A09C-421D-A99D-D612DA5DF1A7}"/>
              </a:ext>
            </a:extLst>
          </p:cNvPr>
          <p:cNvSpPr/>
          <p:nvPr/>
        </p:nvSpPr>
        <p:spPr>
          <a:xfrm>
            <a:off x="12851476" y="7753004"/>
            <a:ext cx="1684713" cy="410094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5451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Структура данных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037278"/>
            <a:ext cx="4158734" cy="3668316"/>
          </a:xfrm>
          <a:prstGeom prst="roundRect">
            <a:avLst>
              <a:gd name="adj" fmla="val 2741"/>
            </a:avLst>
          </a:prstGeom>
          <a:solidFill>
            <a:srgbClr val="FAF5EB"/>
          </a:solidFill>
          <a:ln w="30480">
            <a:solidFill>
              <a:srgbClr val="D5CD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204" y="2067758"/>
            <a:ext cx="4097774" cy="718066"/>
          </a:xfrm>
          <a:prstGeom prst="roundRect">
            <a:avLst>
              <a:gd name="adj" fmla="val 8908"/>
            </a:avLst>
          </a:prstGeom>
          <a:solidFill>
            <a:srgbClr val="FAF5EB"/>
          </a:solidFill>
          <a:ln/>
        </p:spPr>
      </p:sp>
      <p:sp>
        <p:nvSpPr>
          <p:cNvPr id="5" name="Text 3"/>
          <p:cNvSpPr/>
          <p:nvPr/>
        </p:nvSpPr>
        <p:spPr>
          <a:xfrm>
            <a:off x="2737604" y="2198608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7519" y="30251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Product (Товар)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07519" y="3520678"/>
            <a:ext cx="361914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Основные поля:</a:t>
            </a: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название, описание, цена, количество на складе, изображение, категория, статус активности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5235773" y="2037278"/>
            <a:ext cx="4158734" cy="3668316"/>
          </a:xfrm>
          <a:prstGeom prst="roundRect">
            <a:avLst>
              <a:gd name="adj" fmla="val 2741"/>
            </a:avLst>
          </a:prstGeom>
          <a:solidFill>
            <a:srgbClr val="FAF5EB"/>
          </a:solidFill>
          <a:ln w="30480">
            <a:solidFill>
              <a:srgbClr val="D5CD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66253" y="2067758"/>
            <a:ext cx="4097774" cy="718066"/>
          </a:xfrm>
          <a:prstGeom prst="roundRect">
            <a:avLst>
              <a:gd name="adj" fmla="val 8908"/>
            </a:avLst>
          </a:prstGeom>
          <a:solidFill>
            <a:srgbClr val="FAF5EB"/>
          </a:solidFill>
          <a:ln/>
        </p:spPr>
      </p:sp>
      <p:sp>
        <p:nvSpPr>
          <p:cNvPr id="10" name="Text 8"/>
          <p:cNvSpPr/>
          <p:nvPr/>
        </p:nvSpPr>
        <p:spPr>
          <a:xfrm>
            <a:off x="7135654" y="2198608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505569" y="3025140"/>
            <a:ext cx="287333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Category (Категория)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05569" y="3520678"/>
            <a:ext cx="361914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Основные поля:</a:t>
            </a: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название, описание, порядок сортировки, статус активности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633823" y="2037278"/>
            <a:ext cx="4158853" cy="3668316"/>
          </a:xfrm>
          <a:prstGeom prst="roundRect">
            <a:avLst>
              <a:gd name="adj" fmla="val 2741"/>
            </a:avLst>
          </a:prstGeom>
          <a:solidFill>
            <a:srgbClr val="FAF5EB"/>
          </a:solidFill>
          <a:ln w="30480">
            <a:solidFill>
              <a:srgbClr val="D5CD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64303" y="2067758"/>
            <a:ext cx="4097893" cy="718066"/>
          </a:xfrm>
          <a:prstGeom prst="roundRect">
            <a:avLst>
              <a:gd name="adj" fmla="val 8908"/>
            </a:avLst>
          </a:prstGeom>
          <a:solidFill>
            <a:srgbClr val="FAF5EB"/>
          </a:solidFill>
          <a:ln/>
        </p:spPr>
      </p:sp>
      <p:sp>
        <p:nvSpPr>
          <p:cNvPr id="15" name="Text 13"/>
          <p:cNvSpPr/>
          <p:nvPr/>
        </p:nvSpPr>
        <p:spPr>
          <a:xfrm>
            <a:off x="11533703" y="2198608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903619" y="30251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Order (Заказ)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903619" y="3520678"/>
            <a:ext cx="3619262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Основные поля:</a:t>
            </a: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данные клиента, список товаров, общая сумма, статус, адрес доставки, примечания, дата создания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837724" y="5974794"/>
            <a:ext cx="12954952" cy="1400175"/>
          </a:xfrm>
          <a:prstGeom prst="roundRect">
            <a:avLst>
              <a:gd name="adj" fmla="val 7181"/>
            </a:avLst>
          </a:prstGeom>
          <a:solidFill>
            <a:srgbClr val="C5DBED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039" y="6338768"/>
            <a:ext cx="299204" cy="23931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15559" y="6273879"/>
            <a:ext cx="1193780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Firebase Realtime Database</a:t>
            </a:r>
            <a:r>
              <a:rPr lang="en-US" sz="18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обеспечивает синхронизацию данных в реальном времени между всеми пользователями системы</a:t>
            </a:r>
            <a:endParaRPr lang="en-US" sz="185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4406EB-9BA2-4755-8B15-082E3F759072}"/>
              </a:ext>
            </a:extLst>
          </p:cNvPr>
          <p:cNvSpPr/>
          <p:nvPr/>
        </p:nvSpPr>
        <p:spPr>
          <a:xfrm>
            <a:off x="12851476" y="7753004"/>
            <a:ext cx="1684713" cy="410094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6444" y="632698"/>
            <a:ext cx="5017889" cy="522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Преимущества решения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6444" y="1510427"/>
            <a:ext cx="444103" cy="4441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26444" y="2176582"/>
            <a:ext cx="3066336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Высокая производительность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026444" y="2544485"/>
            <a:ext cx="5177671" cy="56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SPA архитектура без перезагрузки страниц обеспечивает мгновенную навигацию и отзывчивый интерфейс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6166" y="1510427"/>
            <a:ext cx="444103" cy="4441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26166" y="2176582"/>
            <a:ext cx="2219444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Безопасность данных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426166" y="2544485"/>
            <a:ext cx="5177671" cy="852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Система ролей и прав доступа защищает данные, предоставляя функции только авторизованным пользователям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26444" y="3752374"/>
            <a:ext cx="444103" cy="44410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26444" y="4418528"/>
            <a:ext cx="2090380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Надежность кода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2026444" y="4786432"/>
            <a:ext cx="5177671" cy="56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TypeScript обеспечивает строгую типизацию, что снижает количество ошибок и упрощает поддержку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26166" y="3752374"/>
            <a:ext cx="444103" cy="44410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26166" y="4418528"/>
            <a:ext cx="381190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Синхронизация в реальном времени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7426166" y="4786432"/>
            <a:ext cx="5177671" cy="852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Firebase автоматически синхронизирует изменения между всеми клиентами без необходимости обновления страницы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26444" y="5994321"/>
            <a:ext cx="444103" cy="44410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26444" y="6660475"/>
            <a:ext cx="2453640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Модульная архитектура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2026444" y="7028378"/>
            <a:ext cx="5177671" cy="56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Разделение на компоненты, страницы и хранилища упрощает разработку и масштабирование системы</a:t>
            </a:r>
            <a:endParaRPr lang="en-US" sz="13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26166" y="5994321"/>
            <a:ext cx="444103" cy="44410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26166" y="6660475"/>
            <a:ext cx="2237542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Современный дизайн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7426166" y="7028378"/>
            <a:ext cx="5177671" cy="56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Крафтовая розово-сливовая цветовая палитра создает уютную атмосферу магазина товаров для рукоделия</a:t>
            </a:r>
            <a:endParaRPr lang="en-US" sz="135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52A47D3-0F61-4410-B7BA-C448A4620048}"/>
              </a:ext>
            </a:extLst>
          </p:cNvPr>
          <p:cNvSpPr/>
          <p:nvPr/>
        </p:nvSpPr>
        <p:spPr>
          <a:xfrm>
            <a:off x="12851476" y="7753004"/>
            <a:ext cx="1684713" cy="410094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9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65271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Показатели проекта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835366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929283" y="5924312"/>
            <a:ext cx="283106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Роли пользователей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37724" y="6419850"/>
            <a:ext cx="301430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Гость, продавец, администратор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151233" y="4835366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5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4250293" y="592431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Основных страниц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151233" y="6419850"/>
            <a:ext cx="30143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Главная, товары, категории, заказы, админ-панель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7464743" y="4835366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</a:t>
            </a:r>
            <a:endParaRPr lang="en-US" sz="6200" dirty="0"/>
          </a:p>
        </p:txBody>
      </p:sp>
      <p:sp>
        <p:nvSpPr>
          <p:cNvPr id="11" name="Text 8"/>
          <p:cNvSpPr/>
          <p:nvPr/>
        </p:nvSpPr>
        <p:spPr>
          <a:xfrm>
            <a:off x="7563803" y="592431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MobX хранилища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64743" y="6419850"/>
            <a:ext cx="301430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Для управления состоянием приложения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0778252" y="4835366"/>
            <a:ext cx="3014424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20+</a:t>
            </a:r>
            <a:endParaRPr lang="en-US" sz="6200" dirty="0"/>
          </a:p>
        </p:txBody>
      </p:sp>
      <p:sp>
        <p:nvSpPr>
          <p:cNvPr id="14" name="Text 11"/>
          <p:cNvSpPr/>
          <p:nvPr/>
        </p:nvSpPr>
        <p:spPr>
          <a:xfrm>
            <a:off x="10877312" y="592431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UI компонентов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778252" y="6419850"/>
            <a:ext cx="301442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Переиспользуемые элементы интерфейса</a:t>
            </a:r>
            <a:endParaRPr lang="en-US" sz="18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9C66AE2-ECC5-4BA1-96B3-77112ABB1821}"/>
              </a:ext>
            </a:extLst>
          </p:cNvPr>
          <p:cNvSpPr/>
          <p:nvPr/>
        </p:nvSpPr>
        <p:spPr>
          <a:xfrm>
            <a:off x="12851476" y="7753004"/>
            <a:ext cx="1684713" cy="410094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8308" y="668060"/>
            <a:ext cx="5826562" cy="55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Результаты и перспективы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698308" y="1694617"/>
            <a:ext cx="3214330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Достигнутые результаты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1698308" y="2216229"/>
            <a:ext cx="6556057" cy="60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Создано полнофункциональное веб-приложение для управления интернет-магазином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698308" y="2886075"/>
            <a:ext cx="6556057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Реализована гибкая система ролей с разграничением прав доступа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698308" y="3253978"/>
            <a:ext cx="6556057" cy="60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Обеспечена высокая производительность благодаря SPA архитектуре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98308" y="3923824"/>
            <a:ext cx="6556057" cy="60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Применены современные технологии и лучшие практики разработки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98308" y="4716304"/>
            <a:ext cx="303323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Возможности развития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698308" y="5237917"/>
            <a:ext cx="6556057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Интеграция с платежными системами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698308" y="5605820"/>
            <a:ext cx="6556057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Добавление корзины для покупателей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698308" y="5973723"/>
            <a:ext cx="6556057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Система отзывов и рейтингов товаров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698308" y="6341626"/>
            <a:ext cx="6556057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Мобильное приложение</a:t>
            </a:r>
            <a:endParaRPr lang="en-US" sz="14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281" y="1718310"/>
            <a:ext cx="4217194" cy="421719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698308" y="7016143"/>
            <a:ext cx="11233666" cy="31194"/>
          </a:xfrm>
          <a:prstGeom prst="rect">
            <a:avLst/>
          </a:prstGeom>
          <a:solidFill>
            <a:srgbClr val="2B3541">
              <a:alpha val="5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698308" y="7259598"/>
            <a:ext cx="11233666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Спасибо за внимание!</a:t>
            </a:r>
            <a:endParaRPr lang="en-US" sz="14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5D65C62-DB44-4691-8B30-5E59DC694D74}"/>
              </a:ext>
            </a:extLst>
          </p:cNvPr>
          <p:cNvSpPr/>
          <p:nvPr/>
        </p:nvSpPr>
        <p:spPr>
          <a:xfrm>
            <a:off x="12851476" y="7753004"/>
            <a:ext cx="1684713" cy="410094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533</Words>
  <Application>Microsoft Office PowerPoint</Application>
  <PresentationFormat>Произвольный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Funnel Sans</vt:lpstr>
      <vt:lpstr>Funnel Display</vt:lpstr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Никита Смирнов</cp:lastModifiedBy>
  <cp:revision>3</cp:revision>
  <dcterms:created xsi:type="dcterms:W3CDTF">2026-01-06T22:08:18Z</dcterms:created>
  <dcterms:modified xsi:type="dcterms:W3CDTF">2026-01-17T18:47:03Z</dcterms:modified>
</cp:coreProperties>
</file>