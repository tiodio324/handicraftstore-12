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Bricolage Grotesque Semi Bold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9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62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9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9.png"/><Relationship Id="rId9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9.png"/><Relationship Id="rId9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40602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Интернет-магазин товаров для рукоделия</a:t>
            </a:r>
            <a:endParaRPr lang="en-US" sz="445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D4DD0DE-1BD0-407A-8401-BD25EDB60097}"/>
              </a:ext>
            </a:extLst>
          </p:cNvPr>
          <p:cNvSpPr/>
          <p:nvPr/>
        </p:nvSpPr>
        <p:spPr>
          <a:xfrm>
            <a:off x="12818225" y="7775171"/>
            <a:ext cx="1712422" cy="354676"/>
          </a:xfrm>
          <a:prstGeom prst="rect">
            <a:avLst/>
          </a:prstGeom>
          <a:solidFill>
            <a:srgbClr val="FBF9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2038"/>
            <a:ext cx="724328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Обзор Проекта и Основная Цель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082641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Представляем веб-приложение интернет-магазин товаров для рукоделия. Этот проект создан как Single Page Application (SPA) без использования react-router, обеспечивая быструю навигацию между разделами без перезагрузки страницы.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426500"/>
            <a:ext cx="4196358" cy="3741063"/>
          </a:xfrm>
          <a:prstGeom prst="roundRect">
            <a:avLst>
              <a:gd name="adj" fmla="val 391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F8E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426500"/>
            <a:ext cx="121920" cy="37410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2524" y="3683794"/>
            <a:ext cx="3590330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Автоматизация управления каталогом товаров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142524" y="5095756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системы для управления каталогом товаров для рукоделия с удобным интерфейсом и детальной фильтрацией.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426500"/>
            <a:ext cx="4196358" cy="3741063"/>
          </a:xfrm>
          <a:prstGeom prst="roundRect">
            <a:avLst>
              <a:gd name="adj" fmla="val 391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F8ECD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3426500"/>
            <a:ext cx="121920" cy="37410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65696" y="3683794"/>
            <a:ext cx="3590330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Управление категориями и заказами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5565696" y="5095756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управления категориями товаров с контролем заказов и их статусов для эффективного ведения бизнеса.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9640133" y="3426500"/>
            <a:ext cx="4196358" cy="3741063"/>
          </a:xfrm>
          <a:prstGeom prst="roundRect">
            <a:avLst>
              <a:gd name="adj" fmla="val 391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F8ECD3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3426500"/>
            <a:ext cx="121920" cy="37410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88868" y="3683794"/>
            <a:ext cx="359033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Удобный интерфейс для продавцов</a:t>
            </a:r>
            <a:endParaRPr lang="en-US" sz="2650" dirty="0"/>
          </a:p>
        </p:txBody>
      </p:sp>
      <p:sp>
        <p:nvSpPr>
          <p:cNvPr id="15" name="Text 10"/>
          <p:cNvSpPr/>
          <p:nvPr/>
        </p:nvSpPr>
        <p:spPr>
          <a:xfrm>
            <a:off x="9988868" y="4670465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 архитектура для бесшовного пользовательского опыта с разграничением прав доступа для продавцов и администраторов.</a:t>
            </a:r>
            <a:endParaRPr lang="en-US" sz="17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4E18A83-75A6-4E0B-A76B-BD64AFA40885}"/>
              </a:ext>
            </a:extLst>
          </p:cNvPr>
          <p:cNvSpPr/>
          <p:nvPr/>
        </p:nvSpPr>
        <p:spPr>
          <a:xfrm>
            <a:off x="12818225" y="7775171"/>
            <a:ext cx="1712422" cy="354676"/>
          </a:xfrm>
          <a:prstGeom prst="rect">
            <a:avLst/>
          </a:prstGeom>
          <a:solidFill>
            <a:srgbClr val="FBF9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5632" y="1121807"/>
            <a:ext cx="4866799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Основные Возможности Системы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6005632" y="1715214"/>
            <a:ext cx="8105537" cy="47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Интернет-магазин предлагает широкий спектр функций для эффективного управления товарами, категориями и заказами с разграничением доступа по ролям.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005632" y="2579251"/>
            <a:ext cx="3978593" cy="2197418"/>
          </a:xfrm>
          <a:prstGeom prst="roundRect">
            <a:avLst>
              <a:gd name="adj" fmla="val 3329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632" y="2564011"/>
            <a:ext cx="3978593" cy="6096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356723"/>
            <a:ext cx="445056" cy="4450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05869" y="2467928"/>
            <a:ext cx="177998" cy="222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6169223" y="2950131"/>
            <a:ext cx="2192060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Для всех пользователей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6169223" y="3270885"/>
            <a:ext cx="3651409" cy="47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Просмотр каталога товаров с фильтрацией по категориям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6169223" y="3797379"/>
            <a:ext cx="3651409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по названию и описанию товаров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169223" y="4086582"/>
            <a:ext cx="3651409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Отображение цен и наличия товаров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169223" y="4375785"/>
            <a:ext cx="3651409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Просмотр заказов и их статусов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10132576" y="2579251"/>
            <a:ext cx="3978593" cy="2197418"/>
          </a:xfrm>
          <a:prstGeom prst="roundRect">
            <a:avLst>
              <a:gd name="adj" fmla="val 3329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576" y="2564011"/>
            <a:ext cx="3978593" cy="60960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9344" y="2356723"/>
            <a:ext cx="445056" cy="4450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32813" y="2467928"/>
            <a:ext cx="177998" cy="222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10296168" y="2950131"/>
            <a:ext cx="2039064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Для Продавцов (seller)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10296168" y="3270885"/>
            <a:ext cx="3651409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Добавление новых товаров для рукоделия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10296168" y="3560088"/>
            <a:ext cx="3651409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Редактирование информации о товарах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10296168" y="3849291"/>
            <a:ext cx="3651409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Изменение цен и наличия товаров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10296168" y="4138493"/>
            <a:ext cx="3651409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Просмотр и изменение статуса заказов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005632" y="5147548"/>
            <a:ext cx="8105537" cy="1960126"/>
          </a:xfrm>
          <a:prstGeom prst="roundRect">
            <a:avLst>
              <a:gd name="adj" fmla="val 3732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5632" y="5132308"/>
            <a:ext cx="8105537" cy="60960"/>
          </a:xfrm>
          <a:prstGeom prst="rect">
            <a:avLst/>
          </a:prstGeom>
        </p:spPr>
      </p:pic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5872" y="4925020"/>
            <a:ext cx="445056" cy="44505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969341" y="5036225"/>
            <a:ext cx="177998" cy="222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169223" y="5518428"/>
            <a:ext cx="2015133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Для Администраторов</a:t>
            </a:r>
            <a:endParaRPr lang="en-US" sz="1450" dirty="0"/>
          </a:p>
        </p:txBody>
      </p:sp>
      <p:sp>
        <p:nvSpPr>
          <p:cNvPr id="28" name="Text 19"/>
          <p:cNvSpPr/>
          <p:nvPr/>
        </p:nvSpPr>
        <p:spPr>
          <a:xfrm>
            <a:off x="6169223" y="5839182"/>
            <a:ext cx="7778353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Полное управление товарами (CRUD операции)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6169223" y="6128385"/>
            <a:ext cx="7778353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категориями товаров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6169223" y="6417588"/>
            <a:ext cx="7778353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доступ ко всем заказам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6169223" y="6706791"/>
            <a:ext cx="7778353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Деактивация товаров и массовые операции</a:t>
            </a:r>
            <a:endParaRPr lang="en-US" sz="1150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E6D3467-D54B-42FC-8925-840A7524433D}"/>
              </a:ext>
            </a:extLst>
          </p:cNvPr>
          <p:cNvSpPr/>
          <p:nvPr/>
        </p:nvSpPr>
        <p:spPr>
          <a:xfrm>
            <a:off x="12818225" y="7775171"/>
            <a:ext cx="1712422" cy="354676"/>
          </a:xfrm>
          <a:prstGeom prst="rect">
            <a:avLst/>
          </a:prstGeom>
          <a:solidFill>
            <a:srgbClr val="FBF9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75961" y="598408"/>
            <a:ext cx="5349121" cy="422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Технологический Стек: Frontend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1975961" y="1358146"/>
            <a:ext cx="10678478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 интернет-магазин построен на современных и надежных технологиях, обеспечивающих высокую производительность и стабильность при работе с данными о товарах для рукоделия.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5961" y="2088118"/>
            <a:ext cx="506492" cy="5064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75961" y="2805589"/>
            <a:ext cx="2110383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React 19.2.0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975961" y="3170634"/>
            <a:ext cx="5233749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Ведущая библиотека для создания интерактивных пользовательских интерфейсов интернет-магазина.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0689" y="2088118"/>
            <a:ext cx="506492" cy="5064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0689" y="2805589"/>
            <a:ext cx="2110383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TypeScript 5.9.3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420689" y="3170634"/>
            <a:ext cx="5233749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Типизированный JavaScript для повышения надежности и поддерживаемости кода системы электронной торговли.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75961" y="4048363"/>
            <a:ext cx="506492" cy="5064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75961" y="4765834"/>
            <a:ext cx="2416016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Vite (rolldown-vite 7.3.0)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975961" y="5130879"/>
            <a:ext cx="5233749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инструмент сборки нового поколения для моментальной разработки интернет-магазина.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20689" y="4048363"/>
            <a:ext cx="506492" cy="5064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20689" y="4765834"/>
            <a:ext cx="2110383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MobX 6.15.0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7420689" y="5130879"/>
            <a:ext cx="5233749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Простая и масштабируемая библиотека для управления состоянием приложения электронной торговли.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75961" y="6008608"/>
            <a:ext cx="506492" cy="5064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975961" y="6726079"/>
            <a:ext cx="2110383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SCSS/SASS 1.97.1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1975961" y="7091124"/>
            <a:ext cx="5233749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Мощный препроцессор CSS для стилизации с розово-сливовой крафтовой темой.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20689" y="6008608"/>
            <a:ext cx="506492" cy="50649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20689" y="6726079"/>
            <a:ext cx="2110383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Firebase 12.7.0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7420689" y="7091124"/>
            <a:ext cx="5233749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Гибкая база данных в реальном времени для хранения данных о товарах и синхронизации.</a:t>
            </a:r>
            <a:endParaRPr lang="en-US" sz="13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71BC739-D149-4C02-907B-4F50A3A1C094}"/>
              </a:ext>
            </a:extLst>
          </p:cNvPr>
          <p:cNvSpPr/>
          <p:nvPr/>
        </p:nvSpPr>
        <p:spPr>
          <a:xfrm>
            <a:off x="12818225" y="7775171"/>
            <a:ext cx="1712422" cy="354676"/>
          </a:xfrm>
          <a:prstGeom prst="rect">
            <a:avLst/>
          </a:prstGeom>
          <a:solidFill>
            <a:srgbClr val="FBF9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1327" y="458510"/>
            <a:ext cx="5384482" cy="416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Архитектура Проекта: SRC-Папка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41327" y="1208842"/>
            <a:ext cx="10547628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интернет-магазина четко организована для облегчения разработки и масштабирования. SRC-папка содержит все ключевые модули приложения для управления товарами для рукоделия.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03651" y="1930003"/>
            <a:ext cx="22860" cy="5841802"/>
          </a:xfrm>
          <a:prstGeom prst="roundRect">
            <a:avLst>
              <a:gd name="adj" fmla="val 306388"/>
            </a:avLst>
          </a:prstGeom>
          <a:solidFill>
            <a:srgbClr val="F8ECD3"/>
          </a:solidFill>
          <a:ln/>
        </p:spPr>
      </p:sp>
      <p:sp>
        <p:nvSpPr>
          <p:cNvPr id="5" name="Shape 3"/>
          <p:cNvSpPr/>
          <p:nvPr/>
        </p:nvSpPr>
        <p:spPr>
          <a:xfrm>
            <a:off x="7004447" y="2106097"/>
            <a:ext cx="333494" cy="22860"/>
          </a:xfrm>
          <a:prstGeom prst="roundRect">
            <a:avLst>
              <a:gd name="adj" fmla="val 306388"/>
            </a:avLst>
          </a:prstGeom>
          <a:solidFill>
            <a:srgbClr val="F8ECD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573" y="2055019"/>
            <a:ext cx="125016" cy="1250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63666" y="1987272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Компоненты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41327" y="2347793"/>
            <a:ext cx="4606766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Переиспользуемые UI элементы и макеты (Button, Input, Modal, Table, LoginModal, ConfirmModal).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292221" y="3106579"/>
            <a:ext cx="333494" cy="22860"/>
          </a:xfrm>
          <a:prstGeom prst="roundRect">
            <a:avLst>
              <a:gd name="adj" fmla="val 306388"/>
            </a:avLst>
          </a:prstGeom>
          <a:solidFill>
            <a:srgbClr val="F8ECD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573" y="3055501"/>
            <a:ext cx="125016" cy="1250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82069" y="2987754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Страницы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982069" y="3348276"/>
            <a:ext cx="4606885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Основные разделы приложения (HomePage, ProductsPage, CategoriesPage, OrdersPage, AdminPage).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004447" y="3968948"/>
            <a:ext cx="333494" cy="22860"/>
          </a:xfrm>
          <a:prstGeom prst="roundRect">
            <a:avLst>
              <a:gd name="adj" fmla="val 306388"/>
            </a:avLst>
          </a:prstGeom>
          <a:solidFill>
            <a:srgbClr val="F8ECD3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573" y="3917871"/>
            <a:ext cx="125016" cy="1250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63666" y="3850124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Store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041327" y="4210645"/>
            <a:ext cx="4606766" cy="800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состоянием (AuthStore, DataStore, NavigationStore, UIStore) для данных электронной торговли.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292221" y="4831437"/>
            <a:ext cx="333494" cy="22860"/>
          </a:xfrm>
          <a:prstGeom prst="roundRect">
            <a:avLst>
              <a:gd name="adj" fmla="val 306388"/>
            </a:avLst>
          </a:prstGeom>
          <a:solidFill>
            <a:srgbClr val="F8ECD3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573" y="4780359"/>
            <a:ext cx="125016" cy="1250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82069" y="4712613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Types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982069" y="5073134"/>
            <a:ext cx="4606885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 типы для пользователей, товаров, категорий, заказов и навигации.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7004447" y="5693926"/>
            <a:ext cx="333494" cy="22860"/>
          </a:xfrm>
          <a:prstGeom prst="roundRect">
            <a:avLst>
              <a:gd name="adj" fmla="val 306388"/>
            </a:avLst>
          </a:prstGeom>
          <a:solidFill>
            <a:srgbClr val="F8ECD3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573" y="5642848"/>
            <a:ext cx="125016" cy="1250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63666" y="5575102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Стили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2041327" y="5935623"/>
            <a:ext cx="4606766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Глобальные стили и розово-сливовая крафтовая цветовая палитра для темы рукоделия.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7292221" y="6556415"/>
            <a:ext cx="333494" cy="22860"/>
          </a:xfrm>
          <a:prstGeom prst="roundRect">
            <a:avLst>
              <a:gd name="adj" fmla="val 306388"/>
            </a:avLst>
          </a:prstGeom>
          <a:solidFill>
            <a:srgbClr val="F8ECD3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573" y="6505337"/>
            <a:ext cx="125016" cy="12501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982069" y="6437590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Хуки &amp; Утилиты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7982069" y="6798112"/>
            <a:ext cx="4606885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Кастомные React хуки, утилиты и конфигурация Firebase для функций интернет-магазина.</a:t>
            </a:r>
            <a:endParaRPr lang="en-US" sz="130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4CAD970-DC38-411B-8637-B0663CE51872}"/>
              </a:ext>
            </a:extLst>
          </p:cNvPr>
          <p:cNvSpPr/>
          <p:nvPr/>
        </p:nvSpPr>
        <p:spPr>
          <a:xfrm>
            <a:off x="12818225" y="7775171"/>
            <a:ext cx="1712422" cy="354676"/>
          </a:xfrm>
          <a:prstGeom prst="rect">
            <a:avLst/>
          </a:prstGeom>
          <a:solidFill>
            <a:srgbClr val="FBF9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5493"/>
            <a:ext cx="680644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Система Ролей и Прав Доступа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10609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Интернет-магазин имеет гибкую систему ролей, которая обеспечивает разграничение доступа к функционалу управления товарами и заказами на основе учетных данных пользователя.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87053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1888" y="3257074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994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Гость (guest)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484727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Просмотр каталога товаров, категорий и заказов без возможности редактирования. Роль по умолчанию.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087053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5060" y="3257074"/>
            <a:ext cx="340162" cy="3401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3776" y="3994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Продавец (seller)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443776" y="4484727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Дополнительно к гостю: управление товарами, изменение цен и наличия, обработка заказов.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9640133" y="3087053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68232" y="3257074"/>
            <a:ext cx="340162" cy="3401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66948" y="3994309"/>
            <a:ext cx="32650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Администратор (admin)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866948" y="4484727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контроль: все права продавца плюс CRUD операции над категориями, управление базой данных магазина.</a:t>
            </a:r>
            <a:endParaRPr lang="en-US" sz="175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B004258-133A-4EB0-9E2A-09904E527139}"/>
              </a:ext>
            </a:extLst>
          </p:cNvPr>
          <p:cNvSpPr/>
          <p:nvPr/>
        </p:nvSpPr>
        <p:spPr>
          <a:xfrm>
            <a:off x="12818225" y="7775171"/>
            <a:ext cx="1712422" cy="354676"/>
          </a:xfrm>
          <a:prstGeom prst="rect">
            <a:avLst/>
          </a:prstGeom>
          <a:solidFill>
            <a:srgbClr val="FBF9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4944"/>
            <a:ext cx="886015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Структура Данных: Ключевые Сущности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47554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обеспечения целостности и эффективного хранения информации о товарах для рукоделия, проект оперирует тремя основными сущностями.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456503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4" y="3690938"/>
            <a:ext cx="680442" cy="68044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3877985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224" y="45981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Товар (Product)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8224" y="5088612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id, name, description, categoryId, price, quantity, imageUrl, isActive.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3456503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1396" y="3690938"/>
            <a:ext cx="680442" cy="68044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562" y="3877985"/>
            <a:ext cx="306110" cy="30611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51396" y="4598194"/>
            <a:ext cx="29215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Категория (Category)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5451396" y="5088612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id, name, description, sortOrder, isActive.</a:t>
            </a:r>
            <a:endParaRPr lang="en-US" sz="1750" dirty="0"/>
          </a:p>
        </p:txBody>
      </p:sp>
      <p:sp>
        <p:nvSpPr>
          <p:cNvPr id="14" name="Shape 8"/>
          <p:cNvSpPr/>
          <p:nvPr/>
        </p:nvSpPr>
        <p:spPr>
          <a:xfrm>
            <a:off x="9640133" y="3456503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4568" y="3690938"/>
            <a:ext cx="680442" cy="680442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61734" y="3877985"/>
            <a:ext cx="306110" cy="30611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874568" y="45981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Заказ (Order)</a:t>
            </a:r>
            <a:endParaRPr lang="en-US" sz="2200" dirty="0"/>
          </a:p>
        </p:txBody>
      </p:sp>
      <p:sp>
        <p:nvSpPr>
          <p:cNvPr id="18" name="Text 10"/>
          <p:cNvSpPr/>
          <p:nvPr/>
        </p:nvSpPr>
        <p:spPr>
          <a:xfrm>
            <a:off x="9874568" y="5088612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id, customerName, customerEmail, items[], totalAmount, status, address, notes, createdAt, isActive.</a:t>
            </a:r>
            <a:endParaRPr lang="en-US" sz="17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DB31293-476E-462C-90B9-EB601E510BCC}"/>
              </a:ext>
            </a:extLst>
          </p:cNvPr>
          <p:cNvSpPr/>
          <p:nvPr/>
        </p:nvSpPr>
        <p:spPr>
          <a:xfrm>
            <a:off x="12818225" y="7775171"/>
            <a:ext cx="1712422" cy="354676"/>
          </a:xfrm>
          <a:prstGeom prst="rect">
            <a:avLst/>
          </a:prstGeom>
          <a:solidFill>
            <a:srgbClr val="FBF9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23718" y="713422"/>
            <a:ext cx="6321504" cy="49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900"/>
              </a:lnSpc>
              <a:buNone/>
            </a:pPr>
            <a:r>
              <a:rPr lang="en-US" sz="31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Руководство по Запуску Проекта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98778" y="1511975"/>
            <a:ext cx="7746444" cy="638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5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успешного запуска интернет-магазина товаров для рукоделия следуйте простым шагам, начиная с установки необходимых зависимостей.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98778" y="2375416"/>
            <a:ext cx="199549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78" y="2691884"/>
            <a:ext cx="3773448" cy="228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8661" y="2837378"/>
            <a:ext cx="3753564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450"/>
              </a:lnSpc>
              <a:buNone/>
            </a:pPr>
            <a:r>
              <a:rPr lang="en-US" sz="19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Предварительные требования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698778" y="3269099"/>
            <a:ext cx="3773448" cy="638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Убедитесь, что установлены Node.js (рекомендуется v18+) и npm.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4671774" y="2375416"/>
            <a:ext cx="199549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1774" y="2691884"/>
            <a:ext cx="3773448" cy="228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71774" y="2837378"/>
            <a:ext cx="3016568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Установка зависимостей</a:t>
            </a:r>
            <a:endParaRPr lang="en-US" sz="1950" dirty="0"/>
          </a:p>
        </p:txBody>
      </p:sp>
      <p:sp>
        <p:nvSpPr>
          <p:cNvPr id="12" name="Shape 7"/>
          <p:cNvSpPr/>
          <p:nvPr/>
        </p:nvSpPr>
        <p:spPr>
          <a:xfrm>
            <a:off x="4671774" y="3353872"/>
            <a:ext cx="3773448" cy="618768"/>
          </a:xfrm>
          <a:prstGeom prst="roundRect">
            <a:avLst>
              <a:gd name="adj" fmla="val 13552"/>
            </a:avLst>
          </a:prstGeom>
          <a:solidFill>
            <a:srgbClr val="F2F2F2"/>
          </a:solidFill>
          <a:ln/>
        </p:spPr>
      </p:sp>
      <p:sp>
        <p:nvSpPr>
          <p:cNvPr id="13" name="Shape 8"/>
          <p:cNvSpPr/>
          <p:nvPr/>
        </p:nvSpPr>
        <p:spPr>
          <a:xfrm>
            <a:off x="4661892" y="3353872"/>
            <a:ext cx="3793212" cy="618768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14" name="Text 9"/>
          <p:cNvSpPr/>
          <p:nvPr/>
        </p:nvSpPr>
        <p:spPr>
          <a:xfrm>
            <a:off x="4861441" y="3523536"/>
            <a:ext cx="3394115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92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671774" y="4217194"/>
            <a:ext cx="3773448" cy="638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Выполните эту команду в корневой папке проекта.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698778" y="5205293"/>
            <a:ext cx="199549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5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778" y="5501759"/>
            <a:ext cx="7746444" cy="228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8778" y="5667256"/>
            <a:ext cx="3498771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Запуск development сервера</a:t>
            </a:r>
            <a:endParaRPr lang="en-US" sz="1950" dirty="0"/>
          </a:p>
        </p:txBody>
      </p:sp>
      <p:sp>
        <p:nvSpPr>
          <p:cNvPr id="19" name="Shape 13"/>
          <p:cNvSpPr/>
          <p:nvPr/>
        </p:nvSpPr>
        <p:spPr>
          <a:xfrm>
            <a:off x="698778" y="6163866"/>
            <a:ext cx="7746444" cy="618768"/>
          </a:xfrm>
          <a:prstGeom prst="roundRect">
            <a:avLst>
              <a:gd name="adj" fmla="val 13552"/>
            </a:avLst>
          </a:prstGeom>
          <a:solidFill>
            <a:srgbClr val="F2F2F2"/>
          </a:solidFill>
          <a:ln/>
        </p:spPr>
      </p:sp>
      <p:sp>
        <p:nvSpPr>
          <p:cNvPr id="20" name="Shape 14"/>
          <p:cNvSpPr/>
          <p:nvPr/>
        </p:nvSpPr>
        <p:spPr>
          <a:xfrm>
            <a:off x="688896" y="6163866"/>
            <a:ext cx="7766209" cy="618768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21" name="Text 15"/>
          <p:cNvSpPr/>
          <p:nvPr/>
        </p:nvSpPr>
        <p:spPr>
          <a:xfrm>
            <a:off x="888444" y="6353413"/>
            <a:ext cx="7367111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92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98778" y="7047071"/>
            <a:ext cx="774644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Интернет-магазин будет доступен по локальному адресу.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714" y="600432"/>
            <a:ext cx="12353211" cy="544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Заключение: Будущее Электронной Торговли Рукоделием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62714" y="1581150"/>
            <a:ext cx="13104971" cy="104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Данный интернет-магазин — это инновационный инструмент для управления товарами рукоделия, использующий современные e-commerce платформы для более широкого доступа к рынку и способствующий развитию ремесленного сообщества.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984534" y="2872502"/>
            <a:ext cx="3037284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1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Устойчивое Рукоделие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2714" y="3343751"/>
            <a:ext cx="4259104" cy="1743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Превращение продаж товаров для рукоделия в экологически осознанный бизнес, отвечающий растущему спросу на экологически чистые продукты.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818" y="2957513"/>
            <a:ext cx="4586645" cy="458664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6743" y="4262318"/>
            <a:ext cx="306467" cy="3064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8463" y="2872502"/>
            <a:ext cx="330088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Глобальная Доступность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9608463" y="3343751"/>
            <a:ext cx="4259223" cy="1743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Цифровая трансформация торговли значительно увеличивает доступность товаров для рукоделия, позволяя мастерам достигать глобальной аудитории.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1818" y="2957513"/>
            <a:ext cx="4586645" cy="458664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6952" y="4262318"/>
            <a:ext cx="306467" cy="30646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8463" y="5414248"/>
            <a:ext cx="3420547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Персонализация Покупок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9608463" y="5885498"/>
            <a:ext cx="4259223" cy="1743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Кастомизация и персонализация становятся важными трендами, поскольку потребители ищут уникальные и индивидуальные товары для рукоделия.</a:t>
            </a:r>
            <a:endParaRPr lang="en-US" sz="17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1818" y="2957513"/>
            <a:ext cx="4586645" cy="458664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96952" y="5932527"/>
            <a:ext cx="306467" cy="30646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174677" y="5414248"/>
            <a:ext cx="2847142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1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Поддержка Мастеров</a:t>
            </a:r>
            <a:endParaRPr lang="en-US" sz="2100" dirty="0"/>
          </a:p>
        </p:txBody>
      </p:sp>
      <p:sp>
        <p:nvSpPr>
          <p:cNvPr id="17" name="Text 9"/>
          <p:cNvSpPr/>
          <p:nvPr/>
        </p:nvSpPr>
        <p:spPr>
          <a:xfrm>
            <a:off x="762714" y="5885498"/>
            <a:ext cx="4259104" cy="1743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Платформа для поддержки ремесленных сообществ через структурированный процесс продаж handmade товаров местного производства.</a:t>
            </a:r>
            <a:endParaRPr lang="en-US" sz="17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1818" y="2957513"/>
            <a:ext cx="4586645" cy="458664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26743" y="5932527"/>
            <a:ext cx="306467" cy="306467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5DFDF56-3C86-4DE6-8019-905D189EF381}"/>
              </a:ext>
            </a:extLst>
          </p:cNvPr>
          <p:cNvSpPr/>
          <p:nvPr/>
        </p:nvSpPr>
        <p:spPr>
          <a:xfrm>
            <a:off x="12818225" y="7775171"/>
            <a:ext cx="1712422" cy="354676"/>
          </a:xfrm>
          <a:prstGeom prst="rect">
            <a:avLst/>
          </a:prstGeom>
          <a:solidFill>
            <a:srgbClr val="FBF9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768</Words>
  <Application>Microsoft Office PowerPoint</Application>
  <PresentationFormat>Произвольный</PresentationFormat>
  <Paragraphs>105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Bricolage Grotesque Semi Bold</vt:lpstr>
      <vt:lpstr>Arial</vt:lpstr>
      <vt:lpstr>Inter</vt:lpstr>
      <vt:lpstr>Consolas</vt:lpstr>
      <vt:lpstr>Bricolage Grotesque Light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Никита Смирнов</cp:lastModifiedBy>
  <cp:revision>3</cp:revision>
  <dcterms:created xsi:type="dcterms:W3CDTF">2026-01-06T20:48:18Z</dcterms:created>
  <dcterms:modified xsi:type="dcterms:W3CDTF">2026-01-06T20:51:01Z</dcterms:modified>
</cp:coreProperties>
</file>